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7" d="100"/>
          <a:sy n="87" d="100"/>
        </p:scale>
        <p:origin x="7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81D6-F797-4DFD-BD27-3EE8F402A4F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B6AE0-A500-44AE-B2A4-77A6813626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77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81D6-F797-4DFD-BD27-3EE8F402A4F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B6AE0-A500-44AE-B2A4-77A6813626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82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81D6-F797-4DFD-BD27-3EE8F402A4F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B6AE0-A500-44AE-B2A4-77A6813626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43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81D6-F797-4DFD-BD27-3EE8F402A4F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B6AE0-A500-44AE-B2A4-77A6813626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15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81D6-F797-4DFD-BD27-3EE8F402A4F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B6AE0-A500-44AE-B2A4-77A6813626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522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81D6-F797-4DFD-BD27-3EE8F402A4F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B6AE0-A500-44AE-B2A4-77A6813626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58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81D6-F797-4DFD-BD27-3EE8F402A4F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B6AE0-A500-44AE-B2A4-77A6813626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508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81D6-F797-4DFD-BD27-3EE8F402A4F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B6AE0-A500-44AE-B2A4-77A6813626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209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81D6-F797-4DFD-BD27-3EE8F402A4F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B6AE0-A500-44AE-B2A4-77A6813626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0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81D6-F797-4DFD-BD27-3EE8F402A4F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B6AE0-A500-44AE-B2A4-77A6813626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34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481D6-F797-4DFD-BD27-3EE8F402A4F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B6AE0-A500-44AE-B2A4-77A6813626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7137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481D6-F797-4DFD-BD27-3EE8F402A4F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B6AE0-A500-44AE-B2A4-77A6813626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9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59300"/>
            <a:ext cx="9144000" cy="134647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NSP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&lt;&lt;Project Title&gt;&gt;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59494"/>
            <a:ext cx="9144000" cy="1599806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1708673" y="3334890"/>
            <a:ext cx="3498028" cy="1624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&amp; Reg. No. 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&amp; Reg. No. 2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&amp; Reg. No. 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Engineering (AI)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IV Year (VIII Sem.)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5088385"/>
            <a:ext cx="8724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ADVANCE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&lt;&lt;Date&gt;&gt;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8055685" y="3334890"/>
            <a:ext cx="2411506" cy="11402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&amp; Designation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7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00D41E-6A1A-A993-095A-59DC1F92E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spc="-5" dirty="0">
                <a:solidFill>
                  <a:srgbClr val="000000"/>
                </a:solidFill>
                <a:latin typeface="Times New Roman"/>
                <a:cs typeface="Times New Roman"/>
              </a:rPr>
              <a:t>CON</a:t>
            </a:r>
            <a:r>
              <a:rPr lang="en-IN" sz="4400" spc="-15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lang="en-IN" sz="4400" spc="-5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lang="en-IN" sz="4400" spc="-15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lang="en-IN" sz="4400" dirty="0">
                <a:solidFill>
                  <a:srgbClr val="000000"/>
                </a:solidFill>
                <a:latin typeface="Times New Roman"/>
                <a:cs typeface="Times New Roman"/>
              </a:rPr>
              <a:t>TS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53F152F4-98C8-1A59-5CB7-B7D72B710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0784" y="1141973"/>
            <a:ext cx="3860800" cy="4800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D4BAE3-B2E1-FAC1-0115-1B3B41DF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 smtClean="0"/>
              <a:t>DATE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3BA6D86-1F46-FBF9-01BA-D593AD5B2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7CAI-NSP , July-Dec 2025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2E77381-5D92-FD81-E42B-B96516E2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E1C7-CADE-4666-88F5-C0C8CECCFE56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961A8B4-0872-8A6A-908C-FA22C20EC50C}"/>
              </a:ext>
            </a:extLst>
          </p:cNvPr>
          <p:cNvSpPr txBox="1"/>
          <p:nvPr/>
        </p:nvSpPr>
        <p:spPr>
          <a:xfrm>
            <a:off x="2014073" y="1327991"/>
            <a:ext cx="4431552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Abstract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55600" indent="-342900">
              <a:buFont typeface="Arial MT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Literature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Review</a:t>
            </a:r>
            <a:endParaRPr lang="en-US" sz="16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  <a:tab pos="355600" algn="l"/>
              </a:tabLst>
              <a:defRPr/>
            </a:pPr>
            <a:endParaRPr lang="en-US" sz="16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55600" indent="-342900">
              <a:buFont typeface="Arial MT"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1600" dirty="0">
                <a:solidFill>
                  <a:prstClr val="black"/>
                </a:solidFill>
                <a:latin typeface="Times New Roman"/>
                <a:cs typeface="Times New Roman"/>
              </a:rPr>
              <a:t>Comparison Table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endParaRPr lang="en-US" sz="16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55600" indent="-342900">
              <a:buFont typeface="Arial MT"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55600" lvl="0" indent="-342900">
              <a:buFont typeface="Arial MT"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1600" dirty="0">
                <a:solidFill>
                  <a:prstClr val="black"/>
                </a:solidFill>
                <a:latin typeface="Times New Roman"/>
                <a:cs typeface="Times New Roman"/>
              </a:rPr>
              <a:t>Problem Statement and Objective</a:t>
            </a:r>
          </a:p>
          <a:p>
            <a:pPr marL="12700">
              <a:tabLst>
                <a:tab pos="354965" algn="l"/>
                <a:tab pos="355600" algn="l"/>
              </a:tabLst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1600" noProof="0" dirty="0" smtClean="0">
                <a:solidFill>
                  <a:prstClr val="black"/>
                </a:solidFill>
                <a:latin typeface="Times New Roman"/>
                <a:cs typeface="Times New Roman"/>
              </a:rPr>
              <a:t>Proposed Methodology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1600" spc="-5" dirty="0">
                <a:solidFill>
                  <a:prstClr val="black"/>
                </a:solidFill>
                <a:latin typeface="Times New Roman"/>
                <a:cs typeface="Times New Roman"/>
              </a:rPr>
              <a:t>Conclusion  </a:t>
            </a:r>
          </a:p>
          <a:p>
            <a:pPr marL="12700" marR="0" lvl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tabLst>
                <a:tab pos="354965" algn="l"/>
                <a:tab pos="355600" algn="l"/>
              </a:tabLst>
              <a:defRPr/>
            </a:pPr>
            <a:endParaRPr lang="en-US" sz="1600" spc="-5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Future</a:t>
            </a:r>
            <a:r>
              <a:rPr kumimoji="0" lang="en-US" sz="16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Scope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08462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62546" cy="713334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A9B0-00BD-48B6-97F9-EDEFC70E8851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22-07-2025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E1C7-CADE-4666-88F5-C0C8CECCFE56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8CS7_0 Project, Jan-June 2024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2923200-7B7B-A41A-BD84-FC110FD93167}"/>
              </a:ext>
            </a:extLst>
          </p:cNvPr>
          <p:cNvSpPr txBox="1"/>
          <p:nvPr/>
        </p:nvSpPr>
        <p:spPr>
          <a:xfrm>
            <a:off x="1005840" y="1234440"/>
            <a:ext cx="10241280" cy="4663440"/>
          </a:xfrm>
          <a:prstGeom prst="rect">
            <a:avLst/>
          </a:prstGeom>
          <a:noFill/>
        </p:spPr>
        <p:txBody>
          <a:bodyPr wrap="square" rtlCol="0" lIns="76200" rIns="76200" tIns="76200" bIns="7620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 b="1" i="0">
                <a:solidFill>
                  <a:srgbClr val="14234B"/>
                </a:solidFill>
                <a:latin typeface="Times New Roman"/>
              </a:rPr>
              <a:t>• Context &amp; Motivation:</a:t>
            </a:r>
            <a:r>
              <a:rPr sz="1400" b="0" i="0">
                <a:solidFill>
                  <a:srgbClr val="282828"/>
                </a:solidFill>
                <a:latin typeface="Times New Roman"/>
              </a:rPr>
              <a:t> Traditional qualitative market gap analysis and commercial opportunity discovery require extensive manual labor across fragmented web communities, leading to sample bias, high human latency, and subjective interpretations.</a:t>
            </a:r>
            <a:endParaRPr lang="en-IN" dirty="0"/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 b="1" i="0">
                <a:solidFill>
                  <a:srgbClr val="14234B"/>
                </a:solidFill>
                <a:latin typeface="Times New Roman"/>
              </a:rPr>
              <a:t>• Identified Problem:</a:t>
            </a:r>
            <a:r>
              <a:rPr sz="1400" b="0" i="0">
                <a:solidFill>
                  <a:srgbClr val="282828"/>
                </a:solidFill>
                <a:latin typeface="Times New Roman"/>
              </a:rPr>
              <a:t> Standard generative AI solutions suffer from 'abstraction drift'—hallucinating phantom companies, inventing statistics, and outputting generic product templates without verified Willingness-To-Pay (WTP) or proper-noun provenance.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 b="1" i="0">
                <a:solidFill>
                  <a:srgbClr val="14234B"/>
                </a:solidFill>
                <a:latin typeface="Times New Roman"/>
              </a:rPr>
              <a:t>• Proposed System Architecture:</a:t>
            </a:r>
            <a:r>
              <a:rPr sz="1400" b="0" i="0">
                <a:solidFill>
                  <a:srgbClr val="282828"/>
                </a:solidFill>
                <a:latin typeface="Times New Roman"/>
              </a:rPr>
              <a:t> We present an autonomous, grounded Market Intelligence &amp; Gap Mining Engine combining multi-source community mining (Reddit, HackerNews, GitHub), deterministic character-span extraction (Pydantic/Instructor), density-based semantic clustering (BERTopic/HDBSCAN) with an automated Coherence Gate, and a dual-tier cognitive load routing mechanism (Fast Groq 70B/Gemini Flash vs. Deep GPT-4o/Claude 3.5/Gemini Pro).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 b="1" i="0">
                <a:solidFill>
                  <a:srgbClr val="14234B"/>
                </a:solidFill>
                <a:latin typeface="Times New Roman"/>
              </a:rPr>
              <a:t>• Empirical Validation &amp; Results:</a:t>
            </a:r>
            <a:r>
              <a:rPr sz="1400" b="0" i="0">
                <a:solidFill>
                  <a:srgbClr val="282828"/>
                </a:solidFill>
                <a:latin typeface="Times New Roman"/>
              </a:rPr>
              <a:t> Evaluated across 1,500+ raw entries yielding 1,146 verified pain points, 31 cohesive thematic clusters, and zero-hallucination commercial opportunity dossiers with 100% citation traceability back to primary source URLs.</a:t>
            </a:r>
          </a:p>
        </p:txBody>
      </p:sp>
    </p:spTree>
    <p:extLst>
      <p:ext uri="{BB962C8B-B14F-4D97-AF65-F5344CB8AC3E}">
        <p14:creationId xmlns:p14="http://schemas.microsoft.com/office/powerpoint/2010/main" val="119299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2962" y="336331"/>
            <a:ext cx="8596668" cy="799070"/>
          </a:xfrm>
        </p:spPr>
        <p:txBody>
          <a:bodyPr>
            <a:normAutofit/>
          </a:bodyPr>
          <a:lstStyle/>
          <a:p>
            <a:pPr algn="ctr"/>
            <a:r>
              <a:rPr sz="2800" b="1" i="0">
                <a:solidFill>
                  <a:srgbClr val="0F1E46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3634B-69B7-4847-BD10-69AA8D5DA800}" type="datetime1">
              <a:rPr lang="en-IN" smtClean="0"/>
              <a:t>22-07-2025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E1C7-CADE-4666-88F5-C0C8CECCFE56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8CS7_0 Project, Jan-June 2024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05840" y="1188720"/>
            <a:ext cx="10241280" cy="4754880"/>
          </a:xfrm>
        </p:spPr>
        <p:txBody>
          <a:bodyPr wrap="square">
            <a:normAutofit/>
          </a:bodyPr>
          <a:lstStyle/>
          <a:p>
            <a:pPr marL="82296" indent="0">
              <a:spcBef>
                <a:spcPts val="400"/>
              </a:spcBef>
              <a:spcAft>
                <a:spcPts val="200"/>
              </a:spcAft>
              <a:buNone/>
            </a:pPr>
            <a:r>
              <a:rPr sz="1350" b="1" i="0">
                <a:solidFill>
                  <a:srgbClr val="0F2D5F"/>
                </a:solidFill>
                <a:latin typeface="Times New Roman"/>
              </a:rPr>
              <a:t>1. Stanford STORM (Yoon et al., ACL 2024):</a:t>
            </a:r>
            <a:r>
              <a:rPr sz="1250" b="0" i="0">
                <a:solidFill>
                  <a:srgbClr val="282828"/>
                </a:solidFill>
                <a:latin typeface="Times New Roman"/>
              </a:rPr>
              <a:t> Proposed conversational multi-agent topic synthesis with perspective-guided question asking and citation-enforced drafting.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200" b="1" i="1">
                <a:solidFill>
                  <a:srgbClr val="A03C14"/>
                </a:solidFill>
                <a:latin typeface="Times New Roman"/>
              </a:rPr>
              <a:t>   → Impact on Our System: </a:t>
            </a:r>
            <a:r>
              <a:rPr sz="1200" b="0" i="1">
                <a:solidFill>
                  <a:srgbClr val="3C3C3C"/>
                </a:solidFill>
                <a:latin typeface="Times New Roman"/>
              </a:rPr>
              <a:t>Key Takeaway: Formulates multi-perspective query formulation and strict source-attribution mechanisms to eliminate ungrounded synthesis.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0F2D5F"/>
                </a:solidFill>
                <a:latin typeface="Times New Roman"/>
              </a:rPr>
              <a:t>2. GPT-Researcher (Elovic et al., IEEE / arXiv 2024):</a:t>
            </a:r>
            <a:r>
              <a:rPr sz="1250" b="0" i="0">
                <a:solidFill>
                  <a:srgbClr val="282828"/>
                </a:solidFill>
                <a:latin typeface="Times New Roman"/>
              </a:rPr>
              <a:t> Autonomous multi-agent recursive web crawler with source scoring and automated reporting.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200" b="1" i="1">
                <a:solidFill>
                  <a:srgbClr val="A03C14"/>
                </a:solidFill>
                <a:latin typeface="Times New Roman"/>
              </a:rPr>
              <a:t>   → Impact on Our System: </a:t>
            </a:r>
            <a:r>
              <a:rPr sz="1200" b="0" i="1">
                <a:solidFill>
                  <a:srgbClr val="3C3C3C"/>
                </a:solidFill>
                <a:latin typeface="Times New Roman"/>
              </a:rPr>
              <a:t>Key Takeaway: Implements robust parallel web scrapers and scoring filters, but lacks Pydantic schema validation for commercial pain discovery.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0F2D5F"/>
                </a:solidFill>
                <a:latin typeface="Times New Roman"/>
              </a:rPr>
              <a:t>3. BERTopic Framework (Grootendorst, JOSS / EMNLP 2022):</a:t>
            </a:r>
            <a:r>
              <a:rPr sz="1250" b="0" i="0">
                <a:solidFill>
                  <a:srgbClr val="282828"/>
                </a:solidFill>
                <a:latin typeface="Times New Roman"/>
              </a:rPr>
              <a:t> Neural topic modeling leveraging transformer embeddings, UMAP dimensionality reduction, and HDBSCAN clustering.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200" b="1" i="1">
                <a:solidFill>
                  <a:srgbClr val="A03C14"/>
                </a:solidFill>
                <a:latin typeface="Times New Roman"/>
              </a:rPr>
              <a:t>   → Impact on Our System: </a:t>
            </a:r>
            <a:r>
              <a:rPr sz="1200" b="0" i="1">
                <a:solidFill>
                  <a:srgbClr val="3C3C3C"/>
                </a:solidFill>
                <a:latin typeface="Times New Roman"/>
              </a:rPr>
              <a:t>Key Takeaway: Outperforms classic LDA on short, informal texts; requires an external semantic coherence gate to prevent 'garbage-bag' clusters.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0F2D5F"/>
                </a:solidFill>
                <a:latin typeface="Times New Roman"/>
              </a:rPr>
              <a:t>4. Constrained Decoding &amp; Grounding (Google LangExtract / Instructor, 2024–2025):</a:t>
            </a:r>
            <a:r>
              <a:rPr sz="1250" b="0" i="0">
                <a:solidFill>
                  <a:srgbClr val="282828"/>
                </a:solidFill>
                <a:latin typeface="Times New Roman"/>
              </a:rPr>
              <a:t> Pydantic-first structured LLM extraction with exact character-span provenance.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200" b="1" i="1">
                <a:solidFill>
                  <a:srgbClr val="A03C14"/>
                </a:solidFill>
                <a:latin typeface="Times New Roman"/>
              </a:rPr>
              <a:t>   → Impact on Our System: </a:t>
            </a:r>
            <a:r>
              <a:rPr sz="1200" b="0" i="1">
                <a:solidFill>
                  <a:srgbClr val="3C3C3C"/>
                </a:solidFill>
                <a:latin typeface="Times New Roman"/>
              </a:rPr>
              <a:t>Key Takeaway: Guarantees deterministic schema adherence and binds extracted customer quotes directly to source character offsets.</a:t>
            </a:r>
          </a:p>
        </p:txBody>
      </p:sp>
    </p:spTree>
    <p:extLst>
      <p:ext uri="{BB962C8B-B14F-4D97-AF65-F5344CB8AC3E}">
        <p14:creationId xmlns:p14="http://schemas.microsoft.com/office/powerpoint/2010/main" val="153622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59B384-8955-53DC-DE3C-F250B2A4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6813"/>
          </a:xfrm>
        </p:spPr>
        <p:txBody>
          <a:bodyPr/>
          <a:lstStyle/>
          <a:p>
            <a:pPr algn="ctr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Comparison Table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38122D-7956-E083-F4BF-EB769B3E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EAD16-1059-47F6-92F3-4AFD2005B7D0}" type="datetime1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92D9D9C-C387-05C5-E73B-33F5C6E5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8CS7_0 Project, Jan-June 2024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31613BF-F845-03F6-692D-108977E5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FE1C7-CADE-4666-88F5-C0C8CECCFE56}" type="slidenum">
              <a:rPr lang="en-IN" smtClean="0"/>
              <a:pPr/>
              <a:t>5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880483"/>
              </p:ext>
            </p:extLst>
          </p:nvPr>
        </p:nvGraphicFramePr>
        <p:xfrm>
          <a:off x="457200" y="13258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742"/>
                <a:gridCol w="715107"/>
                <a:gridCol w="2315306"/>
                <a:gridCol w="1436079"/>
                <a:gridCol w="1512277"/>
                <a:gridCol w="1066799"/>
                <a:gridCol w="1338385"/>
                <a:gridCol w="133838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Ref.</a:t>
                      </a:r>
                    </a:p>
                  </a:txBody>
                  <a:tcPr marL="38100" marR="38100" marT="38100" marB="38100">
                    <a:solidFill>
                      <a:srgbClr val="14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Year</a:t>
                      </a:r>
                    </a:p>
                  </a:txBody>
                  <a:tcPr marL="38100" marR="38100" marT="38100" marB="38100">
                    <a:solidFill>
                      <a:srgbClr val="14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Publication / Base</a:t>
                      </a:r>
                    </a:p>
                  </a:txBody>
                  <a:tcPr marL="38100" marR="38100" marT="38100" marB="38100">
                    <a:solidFill>
                      <a:srgbClr val="14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Architecture &amp; Model</a:t>
                      </a:r>
                    </a:p>
                  </a:txBody>
                  <a:tcPr marL="38100" marR="38100" marT="38100" marB="38100">
                    <a:solidFill>
                      <a:srgbClr val="14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Key Technologies</a:t>
                      </a:r>
                    </a:p>
                  </a:txBody>
                  <a:tcPr marL="38100" marR="38100" marT="38100" marB="38100">
                    <a:solidFill>
                      <a:srgbClr val="14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Benefits</a:t>
                      </a:r>
                    </a:p>
                  </a:txBody>
                  <a:tcPr marL="38100" marR="38100" marT="38100" marB="38100">
                    <a:solidFill>
                      <a:srgbClr val="14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Challenges</a:t>
                      </a:r>
                    </a:p>
                  </a:txBody>
                  <a:tcPr marL="38100" marR="38100" marT="38100" marB="38100">
                    <a:solidFill>
                      <a:srgbClr val="142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Our Innovation</a:t>
                      </a:r>
                    </a:p>
                  </a:txBody>
                  <a:tcPr marL="38100" marR="38100" marT="38100" marB="38100">
                    <a:solidFill>
                      <a:srgbClr val="142D5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E1E1E"/>
                          </a:solidFill>
                          <a:latin typeface="Times New Roman"/>
                        </a:rPr>
                        <a:t>[1]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ACL 2024 (Stanford)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STORM Multi-Agent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LLMs, Multi-Perspective, RAG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High citation density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High token cost; no WTP scoring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WTP quote grounding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E1E1E"/>
                          </a:solidFill>
                          <a:latin typeface="Times New Roman"/>
                        </a:rPr>
                        <a:t>[2]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IEEE / GitHub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GPT-Researcher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Async Scraper, LangChain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Fast automated web search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Lacks strict schema validation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Pydantic deterministic schemas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E1E1E"/>
                          </a:solidFill>
                          <a:latin typeface="Times New Roman"/>
                        </a:rPr>
                        <a:t>[3]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2022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JOSS / EMNLP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BERTopic Pipeline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UMAP, HDBSCAN, c-TF-IDF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Robust neural clustering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Over-fragmentation / noise merging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LLM Coherence Gating</a:t>
                      </a:r>
                    </a:p>
                  </a:txBody>
                  <a:tcPr marL="38100" marR="38100" marT="38100" marB="38100">
                    <a:solidFill>
                      <a:srgbClr val="F5F8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E1E1E"/>
                          </a:solidFill>
                          <a:latin typeface="Times New Roman"/>
                        </a:rPr>
                        <a:t>[4]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2025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Google Research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Google LangExtract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Span Offsets, JSON Schema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Exact character-level citations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High compute / latency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E1E1E"/>
                          </a:solidFill>
                          <a:latin typeface="Times New Roman"/>
                        </a:rPr>
                        <a:t>Fast/Deep Tier Split (Groq/GPT-4o)</a:t>
                      </a:r>
                    </a:p>
                  </a:txBody>
                  <a:tcPr marL="38100" marR="38100" marT="38100" marB="38100">
                    <a:solidFill>
                      <a:srgbClr val="FF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00461E"/>
                          </a:solidFill>
                          <a:latin typeface="Times New Roman"/>
                        </a:rPr>
                        <a:t>[5]</a:t>
                      </a:r>
                    </a:p>
                  </a:txBody>
                  <a:tcPr marL="38100" marR="38100" marT="38100" marB="38100"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00461E"/>
                          </a:solidFill>
                          <a:latin typeface="Times New Roman"/>
                        </a:rPr>
                        <a:t>2025-26</a:t>
                      </a:r>
                    </a:p>
                  </a:txBody>
                  <a:tcPr marL="38100" marR="38100" marT="38100" marB="38100"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00461E"/>
                          </a:solidFill>
                          <a:latin typeface="Times New Roman"/>
                        </a:rPr>
                        <a:t>NSP / Advance Comp.</a:t>
                      </a:r>
                    </a:p>
                  </a:txBody>
                  <a:tcPr marL="38100" marR="38100" marT="38100" marB="38100"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00461E"/>
                          </a:solidFill>
                          <a:latin typeface="Times New Roman"/>
                        </a:rPr>
                        <a:t>Proposed Grounded Engine</a:t>
                      </a:r>
                    </a:p>
                  </a:txBody>
                  <a:tcPr marL="38100" marR="38100" marT="38100" marB="38100"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00461E"/>
                          </a:solidFill>
                          <a:latin typeface="Times New Roman"/>
                        </a:rPr>
                        <a:t>PRAW, Instructor, BERTopic, SQLite</a:t>
                      </a:r>
                    </a:p>
                  </a:txBody>
                  <a:tcPr marL="38100" marR="38100" marT="38100" marB="38100"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00461E"/>
                          </a:solidFill>
                          <a:latin typeface="Times New Roman"/>
                        </a:rPr>
                        <a:t>100% Traceability, WTP ranking</a:t>
                      </a:r>
                    </a:p>
                  </a:txBody>
                  <a:tcPr marL="38100" marR="38100" marT="38100" marB="38100"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00461E"/>
                          </a:solidFill>
                          <a:latin typeface="Times New Roman"/>
                        </a:rPr>
                        <a:t>API quota management</a:t>
                      </a:r>
                    </a:p>
                  </a:txBody>
                  <a:tcPr marL="38100" marR="38100" marT="38100" marB="38100"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00461E"/>
                          </a:solidFill>
                          <a:latin typeface="Times New Roman"/>
                        </a:rPr>
                        <a:t>Autonomous end-to-end pipeline</a:t>
                      </a:r>
                    </a:p>
                  </a:txBody>
                  <a:tcPr marL="38100" marR="38100" marT="38100" marB="38100">
                    <a:solidFill>
                      <a:srgbClr val="E6F5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429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 sz="2800" b="1" i="0">
                <a:solidFill>
                  <a:srgbClr val="0F1E46"/>
                </a:solidFill>
                <a:latin typeface="Times New Roman" pitchFamily="18" charset="0"/>
                <a:cs typeface="Times New Roman" pitchFamily="18" charset="0"/>
              </a:rPr>
              <a:t>Problem Statement &amp; Objectives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188720"/>
            <a:ext cx="10332720" cy="4754880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A02814"/>
                </a:solidFill>
                <a:latin typeface="Times New Roman"/>
              </a:rPr>
              <a:t>A. Problem Statement:</a:t>
            </a:r>
            <a:endParaRPr lang="en-US" dirty="0"/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300" b="1" i="0">
                <a:solidFill>
                  <a:srgbClr val="1E1E1E"/>
                </a:solidFill>
                <a:latin typeface="Times New Roman"/>
              </a:rPr>
              <a:t>• LLM Abstraction Drift &amp; Hallucinations:</a:t>
            </a:r>
            <a:r>
              <a:rPr sz="1250" b="0" i="0">
                <a:solidFill>
                  <a:srgbClr val="323232"/>
                </a:solidFill>
                <a:latin typeface="Times New Roman"/>
              </a:rPr>
              <a:t> Standard AI summarizers invent fictional brand names and abstract away crucial engineering friction points into generic tropes (e.g. 'CloudCostSaver').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300" b="1" i="0">
                <a:solidFill>
                  <a:srgbClr val="1E1E1E"/>
                </a:solidFill>
                <a:latin typeface="Times New Roman"/>
              </a:rPr>
              <a:t>• Lack of Provenance &amp; WTP Signal:</a:t>
            </a:r>
            <a:r>
              <a:rPr sz="1250" b="0" i="0">
                <a:solidFill>
                  <a:srgbClr val="323232"/>
                </a:solidFill>
                <a:latin typeface="Times New Roman"/>
              </a:rPr>
              <a:t> Traditional market research scrapers collect massive volumes of noise without extracting verifiable Willingness-To-Pay (WTP) quotes, budget numbers, or source URLs.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300" b="1" i="0">
                <a:solidFill>
                  <a:srgbClr val="1E1E1E"/>
                </a:solidFill>
                <a:latin typeface="Times New Roman"/>
              </a:rPr>
              <a:t>• Cognitive Mismatch &amp; Rate Limits:</a:t>
            </a:r>
            <a:r>
              <a:rPr sz="1250" b="0" i="0">
                <a:solidFill>
                  <a:srgbClr val="323232"/>
                </a:solidFill>
                <a:latin typeface="Times New Roman"/>
              </a:rPr>
              <a:t> Running deep synthesis across low-parameter models produces generic slop, while using single high-tier models exhaust API quotas rapidly.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 i="0">
                <a:solidFill>
                  <a:srgbClr val="0F376E"/>
                </a:solidFill>
                <a:latin typeface="Times New Roman"/>
              </a:rPr>
              <a:t>B. Project Objectives: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300" b="1" i="0">
                <a:solidFill>
                  <a:srgbClr val="142850"/>
                </a:solidFill>
                <a:latin typeface="Times New Roman"/>
              </a:rPr>
              <a:t>• Autonomous Multi-Source Harvesting:</a:t>
            </a:r>
            <a:r>
              <a:rPr sz="1250" b="0" i="0">
                <a:solidFill>
                  <a:srgbClr val="323232"/>
                </a:solidFill>
                <a:latin typeface="Times New Roman"/>
              </a:rPr>
              <a:t> Build resilient scrapers (PRAW/Crawl4AI) to ingest unstructured real-world discussions (Reddit, HN, GitHub).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300" b="1" i="0">
                <a:solidFill>
                  <a:srgbClr val="142850"/>
                </a:solidFill>
                <a:latin typeface="Times New Roman"/>
              </a:rPr>
              <a:t>• Deterministic Extraction Guardrails:</a:t>
            </a:r>
            <a:r>
              <a:rPr sz="1250" b="0" i="0">
                <a:solidFill>
                  <a:srgbClr val="323232"/>
                </a:solidFill>
                <a:latin typeface="Times New Roman"/>
              </a:rPr>
              <a:t> Enforce Pydantic schema validation requiring exact verbatim quotes, $ metrics, and proper-noun preservation.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300" b="1" i="0">
                <a:solidFill>
                  <a:srgbClr val="142850"/>
                </a:solidFill>
                <a:latin typeface="Times New Roman"/>
              </a:rPr>
              <a:t>• Coherent Semantic Topic Clustering:</a:t>
            </a:r>
            <a:r>
              <a:rPr sz="1250" b="0" i="0">
                <a:solidFill>
                  <a:srgbClr val="323232"/>
                </a:solidFill>
                <a:latin typeface="Times New Roman"/>
              </a:rPr>
              <a:t> Formulate dense embeddings with HDBSCAN and an automated LLM Coherence Gate to eliminate cross-domain noise.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300" b="1" i="0">
                <a:solidFill>
                  <a:srgbClr val="142850"/>
                </a:solidFill>
                <a:latin typeface="Times New Roman"/>
              </a:rPr>
              <a:t>• Multi-Tier Cognitive Routing (KeyManager):</a:t>
            </a:r>
            <a:r>
              <a:rPr sz="1250" b="0" i="0">
                <a:solidFill>
                  <a:srgbClr val="323232"/>
                </a:solidFill>
                <a:latin typeface="Times New Roman"/>
              </a:rPr>
              <a:t> Split cognitive workload: Fast Tier (Groq 70B/Gemini Flash) for extraction vs. Deep Tier (GPT-4o/Claude 3.5) for synthesis.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300" b="1" i="0">
                <a:solidFill>
                  <a:srgbClr val="142850"/>
                </a:solidFill>
                <a:latin typeface="Times New Roman"/>
              </a:rPr>
              <a:t>• Complete Verification &amp; Traceability:</a:t>
            </a:r>
            <a:r>
              <a:rPr sz="1250" b="0" i="0">
                <a:solidFill>
                  <a:srgbClr val="323232"/>
                </a:solidFill>
                <a:latin typeface="Times New Roman"/>
              </a:rPr>
              <a:t> Produce actionable Startup Dossiers with 100% clickable provenance back to primary raw items.</a:t>
            </a:r>
          </a:p>
        </p:txBody>
      </p:sp>
    </p:spTree>
    <p:extLst>
      <p:ext uri="{BB962C8B-B14F-4D97-AF65-F5344CB8AC3E}">
        <p14:creationId xmlns:p14="http://schemas.microsoft.com/office/powerpoint/2010/main" val="3807948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 sz="2800" b="1" i="0">
                <a:solidFill>
                  <a:srgbClr val="0F1E46"/>
                </a:solidFill>
                <a:latin typeface="Times New Roman" pitchFamily="18" charset="0"/>
                <a:cs typeface="Times New Roman" pitchFamily="18" charset="0"/>
              </a:rPr>
              <a:t>Proposed Methodology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188720"/>
            <a:ext cx="10332720" cy="4754880"/>
          </a:xfrm>
        </p:spPr>
        <p:txBody>
          <a:bodyPr wrap="square"/>
          <a:lstStyle/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0F2D5F"/>
                </a:solidFill>
                <a:latin typeface="Times New Roman"/>
              </a:rPr>
              <a:t>1. Stage 1: Multi-Source Community Mining (Scout Layer)</a:t>
            </a:r>
            <a:endParaRPr lang="en-US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82828"/>
                </a:solidFill>
                <a:latin typeface="Times New Roman"/>
              </a:rPr>
              <a:t>   • Ingests rich qualitative developer &amp; consumer discussions from targeted subreddits (r/SaaS, r/devops, etc.) &amp; GitHub issues.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C3C3C"/>
                </a:solidFill>
                <a:latin typeface="Times New Roman"/>
              </a:rPr>
              <a:t>   • Built with asynchronous rate-limiting and intelligent backoff to prevent source IP bans and respect API budgets.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0F2D5F"/>
                </a:solidFill>
                <a:latin typeface="Times New Roman"/>
              </a:rPr>
              <a:t>2. Stage 2: Deterministic Extraction with Specificity Guardrails (Fast Tier)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82828"/>
                </a:solidFill>
                <a:latin typeface="Times New Roman"/>
              </a:rPr>
              <a:t>   • Uses Instructor + Pydantic schema validation to parse messy posts into discrete, structured PainPoint records.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C3C3C"/>
                </a:solidFill>
                <a:latin typeface="Times New Roman"/>
              </a:rPr>
              <a:t>   • Guardrail Enforcement: Rejects extractions lacking exact verbatim quotes, specific dollar amounts, or proper nouns.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0F2D5F"/>
                </a:solidFill>
                <a:latin typeface="Times New Roman"/>
              </a:rPr>
              <a:t>3. Stage 3: Dense Semantic Clustering &amp; Coherence Gating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82828"/>
                </a:solidFill>
                <a:latin typeface="Times New Roman"/>
              </a:rPr>
              <a:t>   • Generates contextual vector embeddings, performs UMAP dimensionality reduction, and executes HDBSCAN density clustering.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C3C3C"/>
                </a:solidFill>
                <a:latin typeface="Times New Roman"/>
              </a:rPr>
              <a:t>   • Automated LLM Coherence Gate samples 100% of cluster points to verify single-domain unity, eliminating 'garbage-bag' clusters.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0F2D5F"/>
                </a:solidFill>
                <a:latin typeface="Times New Roman"/>
              </a:rPr>
              <a:t>4. Stage 4: Multi-Tier Cognitive Load Router (KeyManager &amp; Architect Layer)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82828"/>
                </a:solidFill>
                <a:latin typeface="Times New Roman"/>
              </a:rPr>
              <a:t>   • Fast Tier Cascade: Groq LLaMA-3.3 70B → Cerebras → Gemini 2.0 Flash (high-throughput, token-efficient extraction).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C3C3C"/>
                </a:solidFill>
                <a:latin typeface="Times New Roman"/>
              </a:rPr>
              <a:t>   • Deep Tier Cascade: Gemini 1.5/2.0 Pro → Azure/GitHub GPT-4o → Claude 3.5 Sonnet (heavy architectural gap ranking).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50" b="1" i="0">
                <a:solidFill>
                  <a:srgbClr val="0F2D5F"/>
                </a:solidFill>
                <a:latin typeface="Times New Roman"/>
              </a:rPr>
              <a:t>5. Stage 5: Opportunity Ranking &amp; Verified Dossier Generation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82828"/>
                </a:solidFill>
                <a:latin typeface="Times New Roman"/>
              </a:rPr>
              <a:t>   • Computes objective multi-factor scores: Willingness-To-Pay (WTP), Frequency, and Implementation Feasibility.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3C3C3C"/>
                </a:solidFill>
                <a:latin typeface="Times New Roman"/>
              </a:rPr>
              <a:t>   • Synthesizes Anomaly Opportunity Digests and exports dual human-readable artifacts (Markdown &amp; Word .docx).</a:t>
            </a:r>
          </a:p>
        </p:txBody>
      </p:sp>
    </p:spTree>
    <p:extLst>
      <p:ext uri="{BB962C8B-B14F-4D97-AF65-F5344CB8AC3E}">
        <p14:creationId xmlns:p14="http://schemas.microsoft.com/office/powerpoint/2010/main" val="677654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 sz="2800" b="1" i="0">
                <a:solidFill>
                  <a:srgbClr val="0F1E46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188720"/>
            <a:ext cx="10332720" cy="4754880"/>
          </a:xfrm>
        </p:spPr>
        <p:txBody>
          <a:bodyPr wrap="square"/>
          <a:lstStyle/>
          <a:p>
            <a:pPr>
              <a:spcBef>
                <a:spcPts val="500"/>
              </a:spcBef>
              <a:spcAft>
                <a:spcPts val="600"/>
              </a:spcAft>
            </a:pPr>
            <a:r>
              <a:rPr sz="1400" b="1" i="0">
                <a:solidFill>
                  <a:srgbClr val="0F2D5F"/>
                </a:solidFill>
                <a:latin typeface="Times New Roman"/>
              </a:rPr>
              <a:t>• Fully Grounded Autonomous Pipeline: </a:t>
            </a:r>
            <a:r>
              <a:rPr sz="1350" b="0" i="0">
                <a:solidFill>
                  <a:srgbClr val="282828"/>
                </a:solidFill>
                <a:latin typeface="Times New Roman"/>
              </a:rPr>
              <a:t> Successfully engineered and verified an end-to-end multi-agent engine that bridges the critical gap between qualitative internet chatter and high-conviction software venture formulation.</a:t>
            </a:r>
            <a:endParaRPr lang="en-US" dirty="0"/>
          </a:p>
          <a:p>
            <a:pPr>
              <a:spcBef>
                <a:spcPts val="500"/>
              </a:spcBef>
              <a:spcAft>
                <a:spcPts val="600"/>
              </a:spcAft>
            </a:pPr>
            <a:r>
              <a:rPr sz="1400" b="1" i="0">
                <a:solidFill>
                  <a:srgbClr val="0F2D5F"/>
                </a:solidFill>
                <a:latin typeface="Times New Roman"/>
              </a:rPr>
              <a:t>• Eradication of Generative Slop: </a:t>
            </a:r>
            <a:r>
              <a:rPr sz="1350" b="0" i="0">
                <a:solidFill>
                  <a:srgbClr val="282828"/>
                </a:solidFill>
                <a:latin typeface="Times New Roman"/>
              </a:rPr>
              <a:t> Eliminated hallucinated ideas by enforcing character-span provenance in Pydantic extraction and routing synthesis strictly through a deep cognitive tier.</a:t>
            </a:r>
          </a:p>
          <a:p>
            <a:pPr>
              <a:spcBef>
                <a:spcPts val="500"/>
              </a:spcBef>
              <a:spcAft>
                <a:spcPts val="600"/>
              </a:spcAft>
            </a:pPr>
            <a:r>
              <a:rPr sz="1400" b="1" i="0">
                <a:solidFill>
                  <a:srgbClr val="0F2D5F"/>
                </a:solidFill>
                <a:latin typeface="Times New Roman"/>
              </a:rPr>
              <a:t>• Demonstrated Empirical Signal: </a:t>
            </a:r>
            <a:r>
              <a:rPr sz="1350" b="0" i="0">
                <a:solidFill>
                  <a:srgbClr val="282828"/>
                </a:solidFill>
                <a:latin typeface="Times New Roman"/>
              </a:rPr>
              <a:t> Validated the pipeline across real-world data (1,500+ raw records), structuring 1,146 verified pain points and identifying 31 cohesive problem spaces with verified commercial willingness-to-pay.</a:t>
            </a:r>
          </a:p>
          <a:p>
            <a:pPr>
              <a:spcBef>
                <a:spcPts val="500"/>
              </a:spcBef>
              <a:spcAft>
                <a:spcPts val="600"/>
              </a:spcAft>
            </a:pPr>
            <a:r>
              <a:rPr sz="1400" b="1" i="0">
                <a:solidFill>
                  <a:srgbClr val="0F2D5F"/>
                </a:solidFill>
                <a:latin typeface="Times New Roman"/>
              </a:rPr>
              <a:t>• Cost &amp; Rate-Limit Optimization: </a:t>
            </a:r>
            <a:r>
              <a:rPr sz="1350" b="0" i="0">
                <a:solidFill>
                  <a:srgbClr val="282828"/>
                </a:solidFill>
                <a:latin typeface="Times New Roman"/>
              </a:rPr>
              <a:t> Achieved high throughput at near-zero operating cost by orchestrating tiered cascades (Groq/Gemini/GitHub) with automated rate-limit fallbacks and SQLite relational storage.</a:t>
            </a:r>
          </a:p>
          <a:p>
            <a:pPr>
              <a:spcBef>
                <a:spcPts val="500"/>
              </a:spcBef>
              <a:spcAft>
                <a:spcPts val="600"/>
              </a:spcAft>
            </a:pPr>
            <a:r>
              <a:rPr sz="1400" b="1" i="0">
                <a:solidFill>
                  <a:srgbClr val="0F2D5F"/>
                </a:solidFill>
                <a:latin typeface="Times New Roman"/>
              </a:rPr>
              <a:t>• Human-in-the-Loop Validation: </a:t>
            </a:r>
            <a:r>
              <a:rPr sz="1350" b="0" i="0">
                <a:solidFill>
                  <a:srgbClr val="282828"/>
                </a:solidFill>
                <a:latin typeface="Times New Roman"/>
              </a:rPr>
              <a:t> Engineered direct citation traceability and cold-outreach templates, enabling founders to validate real market demand in under 15 minutes per candidate wedge.</a:t>
            </a:r>
          </a:p>
        </p:txBody>
      </p:sp>
    </p:spTree>
    <p:extLst>
      <p:ext uri="{BB962C8B-B14F-4D97-AF65-F5344CB8AC3E}">
        <p14:creationId xmlns:p14="http://schemas.microsoft.com/office/powerpoint/2010/main" val="1245246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 sz="2800" b="1" i="0">
                <a:solidFill>
                  <a:srgbClr val="0F1E46"/>
                </a:solidFill>
                <a:latin typeface="Times New Roman" pitchFamily="18" charset="0"/>
                <a:cs typeface="Times New Roman" pitchFamily="18" charset="0"/>
              </a:rPr>
              <a:t>Future Scope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188720"/>
            <a:ext cx="10332720" cy="4754880"/>
          </a:xfrm>
        </p:spPr>
        <p:txBody>
          <a:bodyPr wrap="square"/>
          <a:lstStyle/>
          <a:p>
            <a:pPr>
              <a:spcBef>
                <a:spcPts val="500"/>
              </a:spcBef>
              <a:spcAft>
                <a:spcPts val="600"/>
              </a:spcAft>
            </a:pPr>
            <a:r>
              <a:rPr sz="1400" b="1" i="0">
                <a:solidFill>
                  <a:srgbClr val="0F376E"/>
                </a:solidFill>
                <a:latin typeface="Times New Roman"/>
              </a:rPr>
              <a:t>• Cross-Platform Ingestion Expansion: </a:t>
            </a:r>
            <a:r>
              <a:rPr sz="1350" b="0" i="0">
                <a:solidFill>
                  <a:srgbClr val="282828"/>
                </a:solidFill>
                <a:latin typeface="Times New Roman"/>
              </a:rPr>
              <a:t> Ingest multi-channel data from LinkedIn professional posts, Discord developer servers, TikTok transcripts, and G2/Capterra verified software reviews using headless browser crawlers.</a:t>
            </a:r>
            <a:endParaRPr lang="en-US"/>
          </a:p>
          <a:p>
            <a:pPr>
              <a:spcBef>
                <a:spcPts val="500"/>
              </a:spcBef>
              <a:spcAft>
                <a:spcPts val="600"/>
              </a:spcAft>
            </a:pPr>
            <a:r>
              <a:rPr sz="1400" b="1" i="0">
                <a:solidFill>
                  <a:srgbClr val="0F376E"/>
                </a:solidFill>
                <a:latin typeface="Times New Roman"/>
              </a:rPr>
              <a:t>• On-Device Local Model Execution: </a:t>
            </a:r>
            <a:r>
              <a:rPr sz="1350" b="0" i="0">
                <a:solidFill>
                  <a:srgbClr val="282828"/>
                </a:solidFill>
                <a:latin typeface="Times New Roman"/>
              </a:rPr>
              <a:t> Deploy quantized open-weights models (Gemma-2-9B / LLaMA-3.1-8B GGUF via `llama.cpp`) to enable fully air-gapped, zero-cost execution on standard 5GB RAM consumer hardware.</a:t>
            </a:r>
          </a:p>
          <a:p>
            <a:pPr>
              <a:spcBef>
                <a:spcPts val="500"/>
              </a:spcBef>
              <a:spcAft>
                <a:spcPts val="600"/>
              </a:spcAft>
            </a:pPr>
            <a:r>
              <a:rPr sz="1400" b="1" i="0">
                <a:solidFill>
                  <a:srgbClr val="0F376E"/>
                </a:solidFill>
                <a:latin typeface="Times New Roman"/>
              </a:rPr>
              <a:t>• Automated MVP Waitlist &amp; Outreach Engine: </a:t>
            </a:r>
            <a:r>
              <a:rPr sz="1350" b="0" i="0">
                <a:solidFill>
                  <a:srgbClr val="282828"/>
                </a:solidFill>
                <a:latin typeface="Times New Roman"/>
              </a:rPr>
              <a:t> Programmatically generate Tally.so waitlist forms and customized, verbatim-quoted cold DM outreach campaigns targeting the exact users who expressed the underlying pain points.</a:t>
            </a:r>
          </a:p>
          <a:p>
            <a:pPr>
              <a:spcBef>
                <a:spcPts val="500"/>
              </a:spcBef>
              <a:spcAft>
                <a:spcPts val="600"/>
              </a:spcAft>
            </a:pPr>
            <a:r>
              <a:rPr sz="1400" b="1" i="0">
                <a:solidFill>
                  <a:srgbClr val="0F376E"/>
                </a:solidFill>
                <a:latin typeface="Times New Roman"/>
              </a:rPr>
              <a:t>• Multimodal Audio &amp; Video Friction Mining: </a:t>
            </a:r>
            <a:r>
              <a:rPr sz="1350" b="0" i="0">
                <a:solidFill>
                  <a:srgbClr val="282828"/>
                </a:solidFill>
                <a:latin typeface="Times New Roman"/>
              </a:rPr>
              <a:t> Ingest SaaS product demonstration videos, conference talks, and user screencasts to extract qualitative UI/UX friction and workflow breakdowns via multimodal vision-language models.</a:t>
            </a:r>
          </a:p>
          <a:p>
            <a:pPr>
              <a:spcBef>
                <a:spcPts val="500"/>
              </a:spcBef>
              <a:spcAft>
                <a:spcPts val="600"/>
              </a:spcAft>
            </a:pPr>
            <a:r>
              <a:rPr sz="1400" b="1" i="0">
                <a:solidFill>
                  <a:srgbClr val="0F376E"/>
                </a:solidFill>
                <a:latin typeface="Times New Roman"/>
              </a:rPr>
              <a:t>• Real-Time Trend Momentum &amp; Vector Search: </a:t>
            </a:r>
            <a:r>
              <a:rPr sz="1350" b="0" i="0">
                <a:solidFill>
                  <a:srgbClr val="282828"/>
                </a:solidFill>
                <a:latin typeface="Times New Roman"/>
              </a:rPr>
              <a:t> Integrate `sqlite-vec` semantic indexing with Google Trends velocity signals to detect fast-emerging market pains before competitors.</a:t>
            </a:r>
          </a:p>
        </p:txBody>
      </p:sp>
    </p:spTree>
    <p:extLst>
      <p:ext uri="{BB962C8B-B14F-4D97-AF65-F5344CB8AC3E}">
        <p14:creationId xmlns:p14="http://schemas.microsoft.com/office/powerpoint/2010/main" val="516456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 sz="2800" b="1" i="0">
                <a:solidFill>
                  <a:srgbClr val="0F1E46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188720"/>
            <a:ext cx="10332720" cy="4754880"/>
          </a:xfrm>
        </p:spPr>
        <p:txBody>
          <a:bodyPr wrap="square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0F1E46"/>
                </a:solidFill>
                <a:latin typeface="Times New Roman"/>
              </a:rPr>
              <a:t>1. </a:t>
            </a:r>
            <a:r>
              <a:rPr sz="1250" b="0" i="0">
                <a:solidFill>
                  <a:srgbClr val="141414"/>
                </a:solidFill>
                <a:latin typeface="Times New Roman"/>
              </a:rPr>
              <a:t>Yoon, J., et al. (2024). </a:t>
            </a:r>
            <a:r>
              <a:rPr sz="1250" b="1" i="1">
                <a:solidFill>
                  <a:srgbClr val="0F2D5F"/>
                </a:solidFill>
                <a:latin typeface="Times New Roman"/>
              </a:rPr>
              <a:t>STORM: Synthesis of Topic Outlines through Retrieval and Multi-perspective Question Asking. </a:t>
            </a:r>
            <a:r>
              <a:rPr sz="1200" b="0" i="0">
                <a:solidFill>
                  <a:srgbClr val="464646"/>
                </a:solidFill>
                <a:latin typeface="Times New Roman"/>
              </a:rPr>
              <a:t>Proceedings of the 62nd Annual Meeting of the Association for Computational Linguistics (ACL 2024), pp. 1421–1439.</a:t>
            </a:r>
            <a:endParaRPr lang="en-US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0F1E46"/>
                </a:solidFill>
                <a:latin typeface="Times New Roman"/>
              </a:rPr>
              <a:t>2. </a:t>
            </a:r>
            <a:r>
              <a:rPr sz="1250" b="0" i="0">
                <a:solidFill>
                  <a:srgbClr val="141414"/>
                </a:solidFill>
                <a:latin typeface="Times New Roman"/>
              </a:rPr>
              <a:t>Grootendorst, M. (2022). </a:t>
            </a:r>
            <a:r>
              <a:rPr sz="1250" b="1" i="1">
                <a:solidFill>
                  <a:srgbClr val="0F2D5F"/>
                </a:solidFill>
                <a:latin typeface="Times New Roman"/>
              </a:rPr>
              <a:t>BERTopic: Neural topic modeling with a class-based TF-IDF procedure. </a:t>
            </a:r>
            <a:r>
              <a:rPr sz="1200" b="0" i="0">
                <a:solidFill>
                  <a:srgbClr val="464646"/>
                </a:solidFill>
                <a:latin typeface="Times New Roman"/>
              </a:rPr>
              <a:t>Journal of Open Source Software (JOSS), 7(77), 4277.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0F1E46"/>
                </a:solidFill>
                <a:latin typeface="Times New Roman"/>
              </a:rPr>
              <a:t>3. </a:t>
            </a:r>
            <a:r>
              <a:rPr sz="1250" b="0" i="0">
                <a:solidFill>
                  <a:srgbClr val="141414"/>
                </a:solidFill>
                <a:latin typeface="Times New Roman"/>
              </a:rPr>
              <a:t>Elovic, A., &amp; Collaborative Contributors (2024). </a:t>
            </a:r>
            <a:r>
              <a:rPr sz="1250" b="1" i="1">
                <a:solidFill>
                  <a:srgbClr val="0F2D5F"/>
                </a:solidFill>
                <a:latin typeface="Times New Roman"/>
              </a:rPr>
              <a:t>GPT-Researcher: An Autonomous Multi-Agent Web Research System for Comprehensive Online Intelligence. </a:t>
            </a:r>
            <a:r>
              <a:rPr sz="1200" b="0" i="0">
                <a:solidFill>
                  <a:srgbClr val="464646"/>
                </a:solidFill>
                <a:latin typeface="Times New Roman"/>
              </a:rPr>
              <a:t>arXiv preprint arXiv:2401.00282.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0F1E46"/>
                </a:solidFill>
                <a:latin typeface="Times New Roman"/>
              </a:rPr>
              <a:t>4. </a:t>
            </a:r>
            <a:r>
              <a:rPr sz="1250" b="0" i="0">
                <a:solidFill>
                  <a:srgbClr val="141414"/>
                </a:solidFill>
                <a:latin typeface="Times New Roman"/>
              </a:rPr>
              <a:t>Google Research (2025). </a:t>
            </a:r>
            <a:r>
              <a:rPr sz="1250" b="1" i="1">
                <a:solidFill>
                  <a:srgbClr val="0F2D5F"/>
                </a:solidFill>
                <a:latin typeface="Times New Roman"/>
              </a:rPr>
              <a:t>LangExtract: Grounded Structured Extraction with Exact Character-Span Provenance. </a:t>
            </a:r>
            <a:r>
              <a:rPr sz="1200" b="0" i="0">
                <a:solidFill>
                  <a:srgbClr val="464646"/>
                </a:solidFill>
                <a:latin typeface="Times New Roman"/>
              </a:rPr>
              <a:t>Technical Report, Google DeepMind &amp; Research.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0F1E46"/>
                </a:solidFill>
                <a:latin typeface="Times New Roman"/>
              </a:rPr>
              <a:t>5. </a:t>
            </a:r>
            <a:r>
              <a:rPr sz="1250" b="0" i="0">
                <a:solidFill>
                  <a:srgbClr val="141414"/>
                </a:solidFill>
                <a:latin typeface="Times New Roman"/>
              </a:rPr>
              <a:t>Chase, H., &amp; Pydantic Contributors (2024). </a:t>
            </a:r>
            <a:r>
              <a:rPr sz="1250" b="1" i="1">
                <a:solidFill>
                  <a:srgbClr val="0F2D5F"/>
                </a:solidFill>
                <a:latin typeface="Times New Roman"/>
              </a:rPr>
              <a:t>Instructor: Schema Validation, Constrained Generation, and Type-Safe Function Calling in LLMs. </a:t>
            </a:r>
            <a:r>
              <a:rPr sz="1200" b="0" i="0">
                <a:solidFill>
                  <a:srgbClr val="464646"/>
                </a:solidFill>
                <a:latin typeface="Times New Roman"/>
              </a:rPr>
              <a:t>Open Source Software Specification.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0F1E46"/>
                </a:solidFill>
                <a:latin typeface="Times New Roman"/>
              </a:rPr>
              <a:t>6. </a:t>
            </a:r>
            <a:r>
              <a:rPr sz="1250" b="0" i="0">
                <a:solidFill>
                  <a:srgbClr val="141414"/>
                </a:solidFill>
                <a:latin typeface="Times New Roman"/>
              </a:rPr>
              <a:t>McInnes, L., Healy, J., &amp; Astels, S. (2017). </a:t>
            </a:r>
            <a:r>
              <a:rPr sz="1250" b="1" i="1">
                <a:solidFill>
                  <a:srgbClr val="0F2D5F"/>
                </a:solidFill>
                <a:latin typeface="Times New Roman"/>
              </a:rPr>
              <a:t>hdbscan: Hierarchical density-based spatial clustering of applications with noise. </a:t>
            </a:r>
            <a:r>
              <a:rPr sz="1200" b="0" i="0">
                <a:solidFill>
                  <a:srgbClr val="464646"/>
                </a:solidFill>
                <a:latin typeface="Times New Roman"/>
              </a:rPr>
              <a:t>Journal of Open Source Software, 2(11), 205.</a:t>
            </a:r>
          </a:p>
        </p:txBody>
      </p:sp>
    </p:spTree>
    <p:extLst>
      <p:ext uri="{BB962C8B-B14F-4D97-AF65-F5344CB8AC3E}">
        <p14:creationId xmlns:p14="http://schemas.microsoft.com/office/powerpoint/2010/main" val="2861836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132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MT</vt:lpstr>
      <vt:lpstr>Calibri</vt:lpstr>
      <vt:lpstr>Calibri Light</vt:lpstr>
      <vt:lpstr>Times New Roman</vt:lpstr>
      <vt:lpstr>Office Theme</vt:lpstr>
      <vt:lpstr>PowerPoint Presentation</vt:lpstr>
      <vt:lpstr>CONTENTS</vt:lpstr>
      <vt:lpstr>Abstract</vt:lpstr>
      <vt:lpstr>Literature Review Paper 01</vt:lpstr>
      <vt:lpstr>Comparison Table</vt:lpstr>
      <vt:lpstr>Problem Statement &amp; Objectives</vt:lpstr>
      <vt:lpstr>Proposed Methodology</vt:lpstr>
      <vt:lpstr>Conclusion</vt:lpstr>
      <vt:lpstr>Future Scope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pc</cp:lastModifiedBy>
  <cp:revision>23</cp:revision>
  <dcterms:created xsi:type="dcterms:W3CDTF">2025-02-17T06:08:16Z</dcterms:created>
  <dcterms:modified xsi:type="dcterms:W3CDTF">2025-07-22T06:03:49Z</dcterms:modified>
</cp:coreProperties>
</file>